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recapping Friday's L01 ending: Priya asked 'how sure are we?' and Sarah didn't have an answer. This whole lesson is how she gets one. Today we build three statistical lenses: distributions, confidence intervals, A/B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lesson: today we close the gap between Sarah's sample number and the unknown truth. Hold up the three tools we'll build: distributions (today's lens), confidence intervals (Wednesday), A/B testing (Thursday).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up the polarity histogram screenshot. Pause: 'why is the mean higher than the median?' Listen for 'a few extreme values pull the mean up.' Reach for the Z-score language only after this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with one or two real-world examples per shape. Income is the canonical right-skew — most people earn moderately, a few earn millions, the mean gets dragged up. The median is what 'typical' should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this concrete with the salary example. CEO making £800k pulls a 50-person company's mean salary way above the median. Most employees recognise the median as 'their' salary, not the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exam-score analogy: scoring 85 means very different things depending on class average and spread. Z-score gives the answer instantly. Mention this is what scikit-learn's StandardScaler is doing under the hood — useful in L03.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notebook. Run the Pause-and-Predict together. The Heights/Incomes contrast is in Extension — skip in class. Stay tight on time; the Z-score outlier exercise is the natural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Bridge: distributions describe the data we have. Now we deal with the data we DON'T have. Sarah's 200 hand-labelled reviews are a sample. The true model accuracy lives in the unobserved population. How do we connect the two?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central tension. Sarah's 84% is a single observation from one possible sample. The next slide shows what happens when you imagine repeating the experiment 1000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load-bearing theorem of the lesson. Without the CLT, no confidence intervals or hypothesis tests would work on real, messy, non-normal data. The notebook shows it visually with dice rolls — uniform source converging to a bell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bracket is the honest version of the number. ML evaluation reports SHOULD have CIs — most don't. Mention: to halve the bracket, you need 4× the data. Diminishing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Subtle but important. The wrong reading is what most people do say in casual conversation. For business reporting that's usually fine. For published research or regulatory settings the difference matters — it requires Bayesian framework to be technically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notebook. The dice CLT demo is essential — don't skip it. The 'bonus sample-size sensitivity table' is in Extension; skip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Bridge: we now trust the model's accuracy with a CI. The next question is: should we ACT on its output? Aisha proposes an apology coupon for every NEGATIVE-flagged customer. Will it actually move the needle?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four ingredients on the next slide. Marcus is asking the right question — does the intervention move the metric, not just cost money?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Stress: define these four BEFORE you see any data. Otherwise you fall into the 'I'll just check one more metric' trap and your p-values become meaningless. For Sarah's coupon: control = NEG-tagged, no coupon. Treatment = NEG-tagged + coupon. Metric = 30-day complaint rate. Sample = 400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exact about the wording. 'Probability of the data given the null' — NOT probability of the null. Next slide hammers this distinction with the three classic mis-readings.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mistakes appear constantly — in business decisions, in journalism, even in published research. Make learners memorise them. Worth holding for an extra beat. Ask the room which one they've seen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notebook. The Pause-and-Predict before the test runs is essential. The visualisation cell and the redundant mis-reading code are in Extension — skip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 walks into Friday's meeting with these three numbers, each defended by the right statistical lens. No more 'how sure are we?' — she has answers. The numbers are the same as L01's; what changed is her ability to defend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L03. Sarah used someone else's pre-trained model in L01. Now she needs to train her own from NorthStar's data. L03 is supervised learning — the workhorse category, the one that drives most business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 slide. Field questions. Common ones: 'when do I use t-test vs z-test?' (Sample size and whether you know the population variance — t-test for small samples or unknown variance; z-test for big samples or known variance.) 'How do I pick a sample size before running an A/B test?' (Power calculation — beyond today's scope, but worth flagging the existence of the concept.)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DSAI M3 · 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Probability &amp; Statistics for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How sure are we? Defending the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DSAI M3 · Machine Learning &amp; GenAI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Section 1 · Distributions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Friday afternoon, last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2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1">
                <a:solidFill>
                  <a:srgbClr val="666666"/>
                </a:solidFill>
                <a:latin typeface="Calibri"/>
              </a:rPr>
              <a:t>Sarah Chen, end of L01:</a:t>
            </a:r>
          </a:p>
          <a:p>
            <a:pPr>
              <a:spcAft>
                <a:spcPts val="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"60% of reviews are positive, 40% are negative."</a:t>
            </a:r>
          </a:p>
          <a:p>
            <a:pPr>
              <a:spcAft>
                <a:spcPts val="18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— Sarah</a:t>
            </a:r>
          </a:p>
          <a:p>
            <a:pPr>
              <a:spcAft>
                <a:spcPts val="0"/>
              </a:spcAft>
            </a:pPr>
            <a:r>
              <a:rPr sz="2400" b="1" i="0">
                <a:solidFill>
                  <a:srgbClr val="E67E22"/>
                </a:solidFill>
                <a:latin typeface="Calibri"/>
              </a:rPr>
              <a:t>"60%? Could it have been 50% if we had a different week of reviews?"</a:t>
            </a:r>
          </a:p>
          <a:p>
            <a:pPr>
              <a:spcAft>
                <a:spcPts val="18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— Priya</a:t>
            </a:r>
          </a:p>
          <a:p>
            <a:pPr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Sarah's number is a sample statistic.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The true rate, across all NorthStar customers ever, is a population parameter we can never measure directly. Statistics is the language that connects the two.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Sarah's Monday: it's not a bell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Monday morning. Sarah pulls all 10,000 polarity scores and plots them.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E2761"/>
                </a:solidFill>
                <a:latin typeface="Calibri"/>
              </a:rPr>
              <a:t>The histogram leans. It is not symmetric.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Mean polarity: 0.12</a:t>
            </a:r>
          </a:p>
          <a:p>
            <a:pPr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Median polarity: 0.06</a:t>
            </a:r>
          </a:p>
          <a:p>
            <a:pPr>
              <a:spcAft>
                <a:spcPts val="600"/>
              </a:spcAft>
            </a:pPr>
            <a:r>
              <a:rPr sz="1800" b="0" i="1">
                <a:solidFill>
                  <a:srgbClr val="E67E22"/>
                </a:solidFill>
                <a:latin typeface="Calibri"/>
              </a:rPr>
              <a:t>Why don't they match — and which one tells Priya what 'typical' means?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Three distribution 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The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Normal (bell curve)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Symmetric. Mean ≈ median. Heights, test scores, measurement error.</a:t>
            </a:r>
          </a:p>
          <a:p>
            <a:pPr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Right-skewed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Long tail to the right. Mean &gt; median. Incomes, house prices, review lengths.</a:t>
            </a:r>
          </a:p>
          <a:p>
            <a:pPr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Left-skewed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Long tail to the left. Mean &lt; median. Easy exam scores, age at retirement.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What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E67E22"/>
                </a:solidFill>
                <a:latin typeface="Calibri"/>
              </a:rPr>
              <a:t>The pattern: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When mean &gt; median → right-skewed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When mean &lt; median → left-skewed</a:t>
            </a:r>
          </a:p>
          <a:p>
            <a:pPr>
              <a:spcAft>
                <a:spcPts val="1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When mean ≈ median → roughly normal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E67E22"/>
                </a:solidFill>
                <a:latin typeface="Calibri"/>
              </a:rPr>
              <a:t>Why ML cares: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Linear models assume roughly normal. Trees are robust to shape.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Skewed features often need a log transform before training.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Outliers in skewed data dominate the loss function.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Mean vs median — pick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</a:rPr>
              <a:t>Both are 'measures of centre'. Both have a use. They are not interchangeable.</a:t>
            </a:r>
          </a:p>
          <a:p>
            <a:pPr>
              <a:spcAft>
                <a:spcPts val="400"/>
              </a:spcAft>
            </a:pPr>
            <a:r>
              <a:rPr sz="2200" b="1" i="0">
                <a:solidFill>
                  <a:srgbClr val="1E2761"/>
                </a:solidFill>
                <a:latin typeface="Calibri"/>
              </a:rPr>
              <a:t>Mean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Sensitive to extreme values. Useful when the data is roughly symmetric.</a:t>
            </a:r>
          </a:p>
          <a:p>
            <a:pPr>
              <a:spcAft>
                <a:spcPts val="400"/>
              </a:spcAft>
            </a:pPr>
            <a:r>
              <a:rPr sz="2200" b="1" i="0">
                <a:solidFill>
                  <a:srgbClr val="1E2761"/>
                </a:solidFill>
                <a:latin typeface="Calibri"/>
              </a:rPr>
              <a:t>Median</a:t>
            </a:r>
          </a:p>
          <a:p>
            <a:pPr>
              <a:spcAft>
                <a:spcPts val="1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Resistant to extreme values. Better for 'typical' on skewed data.</a:t>
            </a:r>
          </a:p>
          <a:p>
            <a:pPr>
              <a:spcAft>
                <a:spcPts val="400"/>
              </a:spcAft>
            </a:pPr>
            <a:r>
              <a:rPr sz="1800" b="0" i="1">
                <a:solidFill>
                  <a:srgbClr val="333333"/>
                </a:solidFill>
                <a:latin typeface="Calibri"/>
              </a:rPr>
              <a:t>Headlines say 'average household income rose'.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E67E22"/>
                </a:solidFill>
                <a:latin typeface="Calibri"/>
              </a:rPr>
              <a:t>Meanwhile most families feel no change. They're seeing the median; the headline reports the mean.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Z-scores: how unusual?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A Z-score answers: how many standard deviations from the average is this value?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1E2761"/>
                </a:solidFill>
                <a:latin typeface="Consolas"/>
              </a:rPr>
              <a:t>Formula: z = (value − mean) / standard deviation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E67E22"/>
                </a:solidFill>
                <a:latin typeface="Calibri"/>
              </a:rPr>
              <a:t>Quick rule of thumb: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Z = 0     → exactly average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|Z| &lt; 1   → very common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|Z| = 2   → unusual (top 5% if normal)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|Z| ≥ 3   → potential outlier — investigate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Foundation of feature standardisation in ML and the basis for outlier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CADCFC"/>
                </a:solidFill>
                <a:latin typeface="Calibri"/>
              </a:rPr>
              <a:t>→ Code-along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onsolas"/>
              </a:rPr>
              <a:t>02_distributions.ipynb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CADCFC"/>
                </a:solidFill>
                <a:latin typeface="Calibri"/>
              </a:rPr>
              <a:t>≈ 30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What you will learn: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alibri"/>
              </a:rPr>
              <a:t>Plot Sarah's polarity scores, see the right-skew, compute Z-scores on the data, identify outliers. Stay above the 🟡 Extension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Open the notebook now. Run the Core cells together. 🟡 Extension cells are for after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Section 2 · How sure are we?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Sampling, the CLT, and confidence intervals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Wednesday: Sarah hand-labels 200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Sarah reads 200 reviews herself, decides positive/negative each.</a:t>
            </a:r>
          </a:p>
          <a:p>
            <a:pPr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She compares to her model's verdicts.</a:t>
            </a:r>
          </a:p>
          <a:p>
            <a:pPr>
              <a:spcAft>
                <a:spcPts val="1800"/>
              </a:spcAft>
            </a:pPr>
            <a:r>
              <a:rPr sz="2400" b="1" i="0">
                <a:solidFill>
                  <a:srgbClr val="1E2761"/>
                </a:solidFill>
                <a:latin typeface="Calibri"/>
              </a:rPr>
              <a:t>Result: 167 of 200 — about 84% accuracy.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Priya:</a:t>
            </a:r>
          </a:p>
          <a:p>
            <a:pPr>
              <a:spcAft>
                <a:spcPts val="1800"/>
              </a:spcAft>
            </a:pPr>
            <a:r>
              <a:rPr sz="2200" b="0" i="1">
                <a:solidFill>
                  <a:srgbClr val="333333"/>
                </a:solidFill>
                <a:latin typeface="Calibri"/>
              </a:rPr>
              <a:t>"So the model is exactly 84% accurate?"</a:t>
            </a:r>
          </a:p>
          <a:p>
            <a:pPr>
              <a:spcAft>
                <a:spcPts val="600"/>
              </a:spcAft>
            </a:pPr>
            <a:r>
              <a:rPr sz="1800" b="0" i="1">
                <a:solidFill>
                  <a:srgbClr val="E67E22"/>
                </a:solidFill>
                <a:latin typeface="Calibri"/>
              </a:rPr>
              <a:t>If Sarah had labelled a different 200, would she have gotten 84%? Or 79%? Or 90%?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The Central Limit Theorem (CLT)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</a:rPr>
              <a:t>The most important result in statistics for ML:</a:t>
            </a:r>
          </a:p>
          <a:p>
            <a:pPr>
              <a:spcAft>
                <a:spcPts val="4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Even if the underlying data is NOT normally distributed,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the AVERAGE of many samples from that data will be approximately normal.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67E22"/>
                </a:solidFill>
                <a:latin typeface="Calibri"/>
              </a:rPr>
              <a:t>The Skittles analogy: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A jar of Skittles has wildly unequal colour proportions — not normal at all. Grab handfuls of 30, count the reds in each, repeat 1,000 times. The distribution of red-counts will look like a bell curve.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Rule of thumb: samples of 30+ are usually enough.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Confidence intervals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Sarah's 84% is a point estimate from one sample. The CI quantifies the uncertainty: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E67E22"/>
                </a:solidFill>
                <a:latin typeface="Calibri"/>
              </a:rPr>
              <a:t>Formula (for a proportion):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1E2761"/>
                </a:solidFill>
                <a:latin typeface="Consolas"/>
              </a:rPr>
              <a:t>CI = p̂ ± 1.96 × √( p̂(1−p̂) / n )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Sarah's numbers: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p̂ = 0.84,  n = 200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Margin of error ≈ ±5pp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E2761"/>
                </a:solidFill>
                <a:latin typeface="Consolas"/>
              </a:rPr>
              <a:t>95% CI ≈ [78%, 89%]</a:t>
            </a:r>
          </a:p>
          <a:p>
            <a:pPr>
              <a:spcAft>
                <a:spcPts val="600"/>
              </a:spcAft>
            </a:pPr>
            <a:r>
              <a:rPr sz="1600" b="0" i="1">
                <a:solidFill>
                  <a:srgbClr val="666666"/>
                </a:solidFill>
                <a:latin typeface="Calibri"/>
              </a:rPr>
              <a:t>Priya gets a defensible report: '84% accuracy (95% CI 78–89%)'.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The most common CI mis-reading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E67E22"/>
                </a:solidFill>
                <a:latin typeface="Calibri"/>
              </a:rPr>
              <a:t>❌  Wrong:</a:t>
            </a:r>
          </a:p>
          <a:p>
            <a:pPr>
              <a:spcAft>
                <a:spcPts val="1800"/>
              </a:spcAft>
            </a:pPr>
            <a:r>
              <a:rPr sz="1800" b="0" i="1">
                <a:solidFill>
                  <a:srgbClr val="333333"/>
                </a:solidFill>
                <a:latin typeface="Calibri"/>
              </a:rPr>
              <a:t>"There is a 95% probability that the true accuracy is in this interval."</a:t>
            </a:r>
          </a:p>
          <a:p>
            <a:pPr>
              <a:spcAft>
                <a:spcPts val="4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✓  Right:</a:t>
            </a:r>
          </a:p>
          <a:p>
            <a:pPr>
              <a:spcAft>
                <a:spcPts val="1800"/>
              </a:spcAft>
            </a:pPr>
            <a:r>
              <a:rPr sz="1800" b="0" i="1">
                <a:solidFill>
                  <a:srgbClr val="333333"/>
                </a:solidFill>
                <a:latin typeface="Calibri"/>
              </a:rPr>
              <a:t>"If we repeated this experiment many times, 95% of the intervals we computed would contain the true accuracy."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</a:rPr>
              <a:t>The true accuracy is a fixed (unknown) number. Probability is a property of the METHOD, not this specific interval.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CADCFC"/>
                </a:solidFill>
                <a:latin typeface="Calibri"/>
              </a:rPr>
              <a:t>→ Code-along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onsolas"/>
              </a:rPr>
              <a:t>03_confidence_intervals.ipynb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CADCFC"/>
                </a:solidFill>
                <a:latin typeface="Calibri"/>
              </a:rPr>
              <a:t>≈ 30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What you will learn: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alibri"/>
              </a:rPr>
              <a:t>Simulate Sarah's hand-labelling 1,000 times. Watch the CLT make a bell curve out of binary outcomes. Compute the 95% CI from first principles.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Open the notebook now. Run the Core cells together. 🟡 Extension cells are for after class.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Section 3 · Did the intervention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A/B testing and the p-value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Thursday: Aisha's apology coupon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1">
                <a:solidFill>
                  <a:srgbClr val="666666"/>
                </a:solidFill>
                <a:latin typeface="Calibri"/>
              </a:rPr>
              <a:t>Aisha's idea:</a:t>
            </a:r>
          </a:p>
          <a:p>
            <a:pPr>
              <a:spcAft>
                <a:spcPts val="1800"/>
              </a:spcAft>
            </a:pPr>
            <a:r>
              <a:rPr sz="1800" b="0" i="1">
                <a:solidFill>
                  <a:srgbClr val="333333"/>
                </a:solidFill>
                <a:latin typeface="Calibri"/>
              </a:rPr>
              <a:t>"Every customer the model tags NEGATIVE — what if we sent them an apology and a 10% coupon?"</a:t>
            </a:r>
          </a:p>
          <a:p>
            <a:pPr>
              <a:spcAft>
                <a:spcPts val="400"/>
              </a:spcAft>
            </a:pPr>
            <a:r>
              <a:rPr sz="1600" b="0" i="1">
                <a:solidFill>
                  <a:srgbClr val="666666"/>
                </a:solidFill>
                <a:latin typeface="Calibri"/>
              </a:rPr>
              <a:t>Marcus (CTO):</a:t>
            </a:r>
          </a:p>
          <a:p>
            <a:pPr>
              <a:spcAft>
                <a:spcPts val="1800"/>
              </a:spcAft>
            </a:pPr>
            <a:r>
              <a:rPr sz="1800" b="0" i="1">
                <a:solidFill>
                  <a:srgbClr val="E67E22"/>
                </a:solidFill>
                <a:latin typeface="Calibri"/>
              </a:rPr>
              <a:t>"Will this actually reduce churn — or are we adding ops complexity for noise?"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An A/B test answers Marcus's question.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Four ingredients of an A/B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</a:rPr>
              <a:t>Before any code:</a:t>
            </a:r>
          </a:p>
          <a:p>
            <a:pPr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1.  Control group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Customers who do NOT receive the intervention.</a:t>
            </a:r>
          </a:p>
          <a:p>
            <a:pPr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2.  Treatment group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Customers who DO receive the intervention.</a:t>
            </a:r>
          </a:p>
          <a:p>
            <a:pPr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3.  Outcome metric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Single number that defines success. Test ONE metric — multiple metrics inflate false discoveries.</a:t>
            </a:r>
          </a:p>
          <a:p>
            <a:pPr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4.  Sample size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How many observations per group before stopping. Decide BEFORE looking at results.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The p-value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</a:rPr>
              <a:t>The p-value answers a specific question:</a:t>
            </a:r>
          </a:p>
          <a:p>
            <a:pPr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"If the intervention had ZERO effect, what is the probability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of seeing a difference at least this large, by chance alone?"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Convention: p &lt; 0.05 → reject the null hypothesis</a:t>
            </a:r>
          </a:p>
          <a:p>
            <a:pPr>
              <a:spcAft>
                <a:spcPts val="1400"/>
              </a:spcAft>
            </a:pPr>
            <a:r>
              <a:rPr sz="1600" b="0" i="1">
                <a:solidFill>
                  <a:srgbClr val="666666"/>
                </a:solidFill>
                <a:latin typeface="Calibri"/>
              </a:rPr>
              <a:t>Reading: the data would be unlikely under 'no effect', so we reject 'no effect'.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7E22"/>
                </a:solidFill>
                <a:latin typeface="Calibri"/>
              </a:rPr>
              <a:t>Coin-flip analogy: 16 heads in 20 flips → p ≈ 0.006. Strong evidence the coin is biased.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The three classic p-value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E67E22"/>
                </a:solidFill>
                <a:latin typeface="Calibri"/>
              </a:rPr>
              <a:t>1.  ❌  'p = 0.03 means 3% chance the null is true.'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       p is P(data | H₀), not P(H₀ | data). Bayesian framework needed for the second.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67E22"/>
                </a:solidFill>
                <a:latin typeface="Calibri"/>
              </a:rPr>
              <a:t>2.  ❌  'p &lt; 0.05, so the effect is large and important.'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       Statistical ≠ practical significance. Big samples find tiny effects significant. ALWAYS report effect size.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E67E22"/>
                </a:solidFill>
                <a:latin typeface="Calibri"/>
              </a:rPr>
              <a:t>3.  ❌  'p &gt; 0.05, so the intervention has no effect.'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       Failure to detect ≠ proof of absence. Could be insufficient power. 'Absence of evidence is not evidence of absence.'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CADCFC"/>
                </a:solidFill>
                <a:latin typeface="Calibri"/>
              </a:rPr>
              <a:t>→ Code-along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onsolas"/>
              </a:rPr>
              <a:t>04_ab_testing.ipynb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CADCFC"/>
                </a:solidFill>
                <a:latin typeface="Calibri"/>
              </a:rPr>
              <a:t>≈ 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What you will learn: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alibri"/>
              </a:rPr>
              <a:t>Run a simulated A/B test on Aisha's coupon. Compute the z-test from first principles. Practise spotting the three mis-readings.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Open the notebook now. Run the Core cells together. 🟡 Extension cells are for after class.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1">
                <a:solidFill>
                  <a:srgbClr val="CADCFC"/>
                </a:solidFill>
                <a:latin typeface="Calibri"/>
              </a:rPr>
              <a:t>Friday afternoon, three numbers defended: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1.  60% of reviews are positive — with the caveat about skew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2.  84% accurate (95% CI 78–89%) — with the bracket honest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3.  Coupon reduces complaints by ~6pp (p &lt; 0.05) — effect real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Priya nods. Marcus nods. The model survives leadership review.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The next question is about to 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1">
                <a:solidFill>
                  <a:srgbClr val="666666"/>
                </a:solidFill>
                <a:latin typeface="Calibri"/>
              </a:rPr>
              <a:t>After the meeting, Marcus turns to Sarah:</a:t>
            </a:r>
          </a:p>
          <a:p>
            <a:pPr>
              <a:spcAft>
                <a:spcPts val="0"/>
              </a:spcAft>
            </a:pPr>
            <a:r>
              <a:rPr sz="2200" b="0" i="1">
                <a:solidFill>
                  <a:srgbClr val="333333"/>
                </a:solidFill>
                <a:latin typeface="Calibri"/>
              </a:rPr>
              <a:t>"OK, the sentiment model holds up.</a:t>
            </a:r>
          </a:p>
          <a:p>
            <a:pPr>
              <a:spcAft>
                <a:spcPts val="0"/>
              </a:spcAft>
            </a:pPr>
            <a:r>
              <a:rPr sz="2200" b="0" i="1">
                <a:solidFill>
                  <a:srgbClr val="333333"/>
                </a:solidFill>
                <a:latin typeface="Calibri"/>
              </a:rPr>
              <a:t>But you used a pre-trained one. Off the shelf.</a:t>
            </a:r>
          </a:p>
          <a:p>
            <a:pPr>
              <a:spcAft>
                <a:spcPts val="0"/>
              </a:spcAft>
            </a:pPr>
            <a:r>
              <a:rPr sz="2200" b="0" i="1">
                <a:solidFill>
                  <a:srgbClr val="333333"/>
                </a:solidFill>
                <a:latin typeface="Calibri"/>
              </a:rPr>
              <a:t>Can you build us a model that predicts churn</a:t>
            </a:r>
          </a:p>
          <a:p>
            <a:pPr>
              <a:spcAft>
                <a:spcPts val="0"/>
              </a:spcAft>
            </a:pPr>
            <a:r>
              <a:rPr sz="2200" b="0" i="1">
                <a:solidFill>
                  <a:srgbClr val="333333"/>
                </a:solidFill>
                <a:latin typeface="Calibri"/>
              </a:rPr>
              <a:t>from our own customer data?</a:t>
            </a:r>
          </a:p>
          <a:p>
            <a:pPr>
              <a:spcAft>
                <a:spcPts val="1800"/>
              </a:spcAft>
            </a:pPr>
            <a:r>
              <a:rPr sz="2200" b="0" i="1">
                <a:solidFill>
                  <a:srgbClr val="333333"/>
                </a:solidFill>
                <a:latin typeface="Calibri"/>
              </a:rPr>
              <a:t>Something trained on NorthStar behaviour?"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E67E22"/>
                </a:solidFill>
                <a:latin typeface="Calibri"/>
              </a:rPr>
              <a:t>That question — can I train my own model? — is the engine of L03.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286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Open 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E2761"/>
                </a:solidFill>
                <a:latin typeface="Consolas"/>
              </a:rPr>
              <a:t>notebooks/assignment.ipynb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Tom Bradley at Lakeside Bank: 1,000 customers tested on a new onboarding flow. Apply distributions, CIs, and an A/B test to decide whether to roll it out.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</a:rPr>
              <a:t>Then a hospital satisfaction-survey scenario for independent practice.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Optional deep dive: 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1E2761"/>
                </a:solidFill>
                <a:latin typeface="Consolas"/>
              </a:rPr>
              <a:t>notebooks/optional_extensions.ipynb</a:t>
            </a:r>
          </a:p>
          <a:p>
            <a:pPr>
              <a:spcAft>
                <a:spcPts val="2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(Bayes, t-test derivation, bootstrapping, CLT proof sketch — for curious learners only).</a:t>
            </a:r>
          </a:p>
          <a:p>
            <a:pPr>
              <a:spcAft>
                <a:spcPts val="600"/>
              </a:spcAft>
            </a:pPr>
            <a:r>
              <a:rPr sz="2600" b="1" i="0">
                <a:solidFill>
                  <a:srgbClr val="E67E22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